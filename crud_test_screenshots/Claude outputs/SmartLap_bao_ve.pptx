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Chào thầy, nhóm 1 trình bày đề tài 6: hệ khuyến nghị laptop SmartLap dùng kNN.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Lộ trình khoảng 12–15 phút, kèm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Người mua phổ thông mô tả được mục đích nhưng không quy đổi được thành cấu hình. Duyệt thủ công phải xem ~20 máy.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Mô hình C hiểu câu, B xếp hạng, A gán phân khúc máy mới cho nhân viên kho.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mạnh: luật chỉ trích số và lọc ràng buộc; mọi quyết định phân loại/xếp hạng do kNN.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Máy mạnh hơn hoặc rẻ hơn nhu cầu không bị phạt — cải tiến riêng theo góp ý của giảng viên.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Tách ML service: đổi phiên bản mô hình độc lập; ML lỗi thì backend vẫn trả kết quả chế độ dự phòng.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Dữ liệu tổng hợp có ràng buộc logic và nhiễu có chủ đích để ranh giới phân khúc mờ như thực tế.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mô hình một cấu hình kNN khác nhau theo bản chất bài toán.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Báo cáo trung thực: CREATOR recall 0,38, nhầm sang GAMING vì chồng lấn cấu hình.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nDCG@5 cao hơn baseline tốt nhất (ngẫu nhiên 0,649) +0,088; 100% đúng ngân sách.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Manhattan nhỉnh 0,004 nằm trong khoảng nhiễu nên giữ Euclidean. Học từ 12 câu chưa đo được cải thiện vì cỡ mẫu nhỏ.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Cấu hình i9-13900H + RTX 4070: Gaming 71%, Đồ họa 29% — phản ánh đúng ranh giới mờ.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10 phút chạm đủ C1–C3; tắt ML service để chứng minh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Chủ động nêu hạn chế trước khi bị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914757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594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HỌC VIỆN CÔNG NGHỆ BƯU CHÍNH VIỄN THÔNG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Môn: Xây dựng hệ thống thông minh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SmartLap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BFDBFE"/>
                </a:solidFill>
                <a:latin typeface="Arial"/>
              </a:rPr>
              <a:t>Hệ khuyến nghị laptop theo hiệu năng và giá thành bằng giải thuật học máy kNN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GVHD: Nguyễn Ngọc Duy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Nhóm 1: Trần Đức Hải (TN) · Cao Thị Vân · Nguyễn Quốc Duy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TP. Hồ Chí Minh,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Nội dung trình bày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4630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361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5361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F2A5C"/>
                </a:solidFill>
                <a:latin typeface="Arial"/>
              </a:rPr>
              <a:t>Bài toán và tiêu chí học phần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148840"/>
            <a:ext cx="548640" cy="54864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219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2219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F2A5C"/>
                </a:solidFill>
                <a:latin typeface="Arial"/>
              </a:rPr>
              <a:t>Cơ sở lý thuyết: kNN, khoảng cách một phía, TF-IDF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28346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077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077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F2A5C"/>
                </a:solidFill>
                <a:latin typeface="Arial"/>
              </a:rPr>
              <a:t>Thiết kế hệ thống và dữ liệu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520440"/>
            <a:ext cx="548640" cy="54864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93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593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F2A5C"/>
                </a:solidFill>
                <a:latin typeface="Arial"/>
              </a:rPr>
              <a:t>Ba mô hình kNN A · B · C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2062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279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2793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F2A5C"/>
                </a:solidFill>
                <a:latin typeface="Arial"/>
              </a:rPr>
              <a:t>Kết quả thực nghiệm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4892040"/>
            <a:ext cx="548640" cy="54864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651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9651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F2A5C"/>
                </a:solidFill>
                <a:latin typeface="Arial"/>
              </a:rPr>
              <a:t>Demo và kiểm thử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55778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6509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6509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0F2A5C"/>
                </a:solidFill>
                <a:latin typeface="Arial"/>
              </a:rPr>
              <a:t>Hạn chế và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Bối cảnh và 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563EB"/>
                </a:solidFill>
                <a:latin typeface="Arial"/>
              </a:rPr>
              <a:t>Người mua biết mình cần gì, nhưng không biết cấu hình nào đáp ứng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F2A5C"/>
                </a:solidFill>
                <a:latin typeface="Arial"/>
              </a:rPr>
              <a:t>▪  Hàng trăm mẫu,</a:t>
            </a:r>
            <a:r>
              <a:rPr sz="1800">
                <a:solidFill>
                  <a:srgbClr val="475569"/>
                </a:solidFill>
                <a:latin typeface="Arial"/>
              </a:rPr>
              <a:t> nhiều thông số phụ thuộc lẫn nhau (CPU, GPU, RAM, màn, pin, giá)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2A5C"/>
                </a:solidFill>
                <a:latin typeface="Arial"/>
              </a:rPr>
              <a:t>▪  Ví dụ bài giảng:</a:t>
            </a:r>
            <a:r>
              <a:rPr sz="1800">
                <a:solidFill>
                  <a:srgbClr val="475569"/>
                </a:solidFill>
                <a:latin typeface="Arial"/>
              </a:rPr>
              <a:t> “mua máy cho con học cơ khí, dùng lâu, giá thấp”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2A5C"/>
                </a:solidFill>
                <a:latin typeface="Arial"/>
              </a:rPr>
              <a:t>▪  Tư vấn viên</a:t>
            </a:r>
            <a:r>
              <a:rPr sz="1800">
                <a:solidFill>
                  <a:srgbClr val="475569"/>
                </a:solidFill>
                <a:latin typeface="Arial"/>
              </a:rPr>
              <a:t> thiếu nhất quán; gán phân khúc thủ công dễ sai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F2A5C"/>
                </a:solidFill>
                <a:latin typeface="Arial"/>
              </a:rPr>
              <a:t>▪  Bộ lọc cứng</a:t>
            </a:r>
            <a:r>
              <a:rPr sz="1800">
                <a:solidFill>
                  <a:srgbClr val="475569"/>
                </a:solidFill>
                <a:latin typeface="Arial"/>
              </a:rPr>
              <a:t> trả về rỗng hoặc quá nhiều, không xếp hạng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920240"/>
            <a:ext cx="2377440" cy="2011680"/>
          </a:xfrm>
          <a:prstGeom prst="roundRect">
            <a:avLst/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57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EA580C"/>
                </a:solidFill>
                <a:latin typeface="Arial"/>
              </a:rPr>
              <a:t>19,7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7889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máy phải xem khi duyệt thủ công theo giá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920240"/>
            <a:ext cx="2377440" cy="2011680"/>
          </a:xfrm>
          <a:prstGeom prst="roundRect">
            <a:avLst/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057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16A34A"/>
                </a:solidFill>
                <a:latin typeface="Arial"/>
              </a:rPr>
              <a:t>1,92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7889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máy phải xem khi dùng SmartLap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06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Đầu vào: câu mô tả tự do + ngân sách + mức ưu tiên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Đầu ra: top-5 laptop + % phù hợp + giải thích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Tổng quan giải pháp: ba mô hình kNN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pic>
        <p:nvPicPr>
          <p:cNvPr id="7" name="Picture 6" descr="h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59" y="1463040"/>
            <a:ext cx="1109260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Đáp ứng tiêu chí của học phần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754880"/>
                <a:gridCol w="3200400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Tiêu chí</a:t>
                      </a:r>
                    </a:p>
                  </a:txBody>
                  <a:tcPr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SmartLap đáp ứng bằng</a:t>
                      </a:r>
                    </a:p>
                  </a:txBody>
                  <a:tcPr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Minh chứng</a:t>
                      </a:r>
                    </a:p>
                  </a:txBody>
                  <a:tcPr>
                    <a:solidFill>
                      <a:srgbClr val="0F2A5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C1. Kết nối người dùng với AI vì mục tiêu có ý nghĩa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Tư vấn top-5 cho người mua; gợi ý phân khúc cho nhân viên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Công sức tìm kiếm giảm ~10,3 lần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C2. Mô tả chung chung vẫn hiểu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Mô hình C: TF-IDF từ + ký tự, kNN cosine; chịu câu không dấu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macro-F1 CV 0,7725; 28/30 câu persona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C3. Cải thiện theo thời gian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Câu được Thích → huấn luyện lại; champion/challenger; fallback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34/34 test; demo huấn luyện lại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Thuật toán được công nhận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kNN (Fix &amp; Hodges 1951; Cover &amp; Hart 1967) là lõi cả 3 mô hình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Mục 2.3, 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≥ 2 module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Module khách hàng + module quản trị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Demo, CRUD 4/4 đạt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Cơ sở lý thuyết: kNN và khoảng cách một phía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563EB"/>
                </a:solidFill>
                <a:latin typeface="Arial"/>
              </a:rPr>
              <a:t>Không phạt một laptop chỉ vì nó mạnh hơn hoặc rẻ hơn mức người dùng cần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0F2A5C"/>
                </a:solidFill>
                <a:latin typeface="Arial"/>
              </a:rPr>
              <a:t>▪  kNN:</a:t>
            </a:r>
            <a:r>
              <a:rPr sz="1700">
                <a:solidFill>
                  <a:srgbClr val="475569"/>
                </a:solidFill>
                <a:latin typeface="Arial"/>
              </a:rPr>
              <a:t> học lười, phi tham số; tìm k điểm gần nhất rồi bỏ phiếu (phân lớp) hoặc trả danh sách (truy hồi)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F2A5C"/>
                </a:solidFill>
                <a:latin typeface="Arial"/>
              </a:rPr>
              <a:t>▪  Chọn k</a:t>
            </a:r>
            <a:r>
              <a:rPr sz="1700">
                <a:solidFill>
                  <a:srgbClr val="475569"/>
                </a:solidFill>
                <a:latin typeface="Arial"/>
              </a:rPr>
              <a:t> bằng grid search + 5-fold CV phân tầng, k lẻ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F2A5C"/>
                </a:solidFill>
                <a:latin typeface="Arial"/>
              </a:rPr>
              <a:t>▪  Chuẩn hóa z-score</a:t>
            </a:r>
            <a:r>
              <a:rPr sz="1700">
                <a:solidFill>
                  <a:srgbClr val="475569"/>
                </a:solidFill>
                <a:latin typeface="Arial"/>
              </a:rPr>
              <a:t> trong Pipeline để tránh rò rỉ dữ liệu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0F2A5C"/>
                </a:solidFill>
                <a:latin typeface="Arial"/>
              </a:rPr>
              <a:t>▪  Cosine</a:t>
            </a:r>
            <a:r>
              <a:rPr sz="1700">
                <a:solidFill>
                  <a:srgbClr val="475569"/>
                </a:solidFill>
                <a:latin typeface="Arial"/>
              </a:rPr>
              <a:t> cho vector TF-IDF thưa (Mô hình 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303520" cy="4206240"/>
          </a:xfrm>
          <a:prstGeom prst="roundRect">
            <a:avLst/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F2A5C"/>
                </a:solidFill>
                <a:latin typeface="Arial"/>
              </a:rPr>
              <a:t>d(x, q) = √( Σ wⱼ · penⱼ² 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F2A5C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F2A5C"/>
                </a:solidFill>
                <a:latin typeface="Arial"/>
              </a:rPr>
              <a:t>Hướng +1 (CPU, GPU, RAM):  pen = max(0, qⱼ − xⱼ)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F2A5C"/>
                </a:solidFill>
                <a:latin typeface="Arial"/>
              </a:rPr>
              <a:t>Hướng −1 (giá, cân nặng):  pen = max(0, xⱼ − qⱼ)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F2A5C"/>
                </a:solidFill>
                <a:latin typeface="Arial"/>
              </a:rPr>
              <a:t>Hai phía (cỡ màn hình):  pen = |xⱼ − qⱼ|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F2A5C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F2A5C"/>
                </a:solidFill>
                <a:latin typeface="Arial"/>
              </a:rPr>
              <a:t>Ví dụ: CPU vượt nhu cầu 1,4 σ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F2A5C"/>
                </a:solidFill>
                <a:latin typeface="Arial"/>
              </a:rPr>
              <a:t>→ Euclidean phạt 1,96;  một phía phạt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Kiến trúc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pic>
        <p:nvPicPr>
          <p:cNvPr id="7" name="Picture 6" descr="h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26997"/>
            <a:ext cx="6675119" cy="46269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3 dịch vụ</a:t>
            </a:r>
            <a:r>
              <a:rPr sz="1600">
                <a:solidFill>
                  <a:srgbClr val="475569"/>
                </a:solidFill>
                <a:latin typeface="Arial"/>
              </a:rPr>
              <a:t> React · Express/Prisma · FastAPI/scikit-learn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Backend</a:t>
            </a:r>
            <a:r>
              <a:rPr sz="1600">
                <a:solidFill>
                  <a:srgbClr val="475569"/>
                </a:solidFill>
                <a:latin typeface="Arial"/>
              </a:rPr>
              <a:t> là nguồn dữ liệu chính, lọc cứng, telemetry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ML service</a:t>
            </a:r>
            <a:r>
              <a:rPr sz="1600">
                <a:solidFill>
                  <a:srgbClr val="475569"/>
                </a:solidFill>
                <a:latin typeface="Arial"/>
              </a:rPr>
              <a:t> không truy cập CSDL, nhận snapshot catalog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Timeout 3 s</a:t>
            </a:r>
            <a:r>
              <a:rPr sz="1600">
                <a:solidFill>
                  <a:srgbClr val="475569"/>
                </a:solidFill>
                <a:latin typeface="Arial"/>
              </a:rPr>
              <a:t> → fallback theo value_index (NFR-02)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Dữ liệu và tiền xử lý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651760" cy="1737360"/>
          </a:xfrm>
          <a:prstGeom prst="roundRect">
            <a:avLst/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563EB"/>
                </a:solidFill>
                <a:latin typeface="Arial"/>
              </a:rPr>
              <a:t>1.000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laptop, 4 phân khúc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463040"/>
            <a:ext cx="2651760" cy="1737360"/>
          </a:xfrm>
          <a:prstGeom prst="roundRect">
            <a:avLst/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6002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563EB"/>
                </a:solidFill>
                <a:latin typeface="Arial"/>
              </a:rPr>
              <a:t>195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317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cặp CPU–GPU khả dĩ (PassMark)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2651760" cy="1737360"/>
          </a:xfrm>
          <a:prstGeom prst="roundRect">
            <a:avLst/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EA580C"/>
                </a:solidFill>
                <a:latin typeface="Arial"/>
              </a:rPr>
              <a:t>132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câu nhu cầu, 6 nhóm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474720"/>
            <a:ext cx="2651760" cy="1737360"/>
          </a:xfrm>
          <a:prstGeom prst="roundRect">
            <a:avLst/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36118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EA580C"/>
                </a:solidFill>
                <a:latin typeface="Arial"/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343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persona kiểm thử tách riêng</a:t>
            </a:r>
          </a:p>
        </p:txBody>
      </p:sp>
      <p:pic>
        <p:nvPicPr>
          <p:cNvPr id="19" name="Picture 18" descr="h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40823"/>
            <a:ext cx="5577840" cy="25533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920" y="448056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A5C"/>
                </a:solidFill>
                <a:latin typeface="Arial"/>
              </a:rPr>
              <a:t>GAMING và CREATOR chồng lấn gần hoàn toàn về giá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A5C"/>
                </a:solidFill>
                <a:latin typeface="Arial"/>
              </a:rPr>
              <a:t>→ Mô hình A không dùng giá (D-04); dùng cấu hình thật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Ba mô hình kNN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3200400"/>
                <a:gridCol w="3200400"/>
              </a:tblGrid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Mô hình A</a:t>
                      </a:r>
                    </a:p>
                  </a:txBody>
                  <a:tcPr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Mô hình C</a:t>
                      </a:r>
                    </a:p>
                  </a:txBody>
                  <a:tcPr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Mô hình B</a:t>
                      </a:r>
                    </a:p>
                  </a:txBody>
                  <a:tcPr>
                    <a:solidFill>
                      <a:srgbClr val="0F2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Nhiệm vụ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Gán phân khúc máy mới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Hiểu câu mô tả tự do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Xếp hạng top-N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Loại kNN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KNeighborsClassifier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TF-IDF + KNeighborsClassifier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NearestNeighbors (brute)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Cấu hình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k=7, euclidean, uniform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k=7, cosine, distance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khoảng cách một phía có trọng số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Đầu vào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11 đặc trưng cấu hình (không giá)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word 1–2 gram + char_wb 3–5 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cấu hình + giá + value_index + thương hiệu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Đầu ra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nhãn + xác suất; &lt; 0,6 → cần xác minh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1 trong 6 nhóm nhu cầu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% phù hợp = 100·e^(−d/0,9) + giải thích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A580C"/>
                </a:solidFill>
                <a:latin typeface="Arial"/>
              </a:rPr>
              <a:t>Luật chỉ trích số (regex ngân sách, RAM) và lọc ràng buộc tuyệt đối — không tham gia phân loại hay xếp hạng.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Kết quả: Mô hình A và Mô hình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pic>
        <p:nvPicPr>
          <p:cNvPr id="7" name="Picture 6" descr="h6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72" y="1371600"/>
            <a:ext cx="3703775" cy="3291840"/>
          </a:xfrm>
          <a:prstGeom prst="rect">
            <a:avLst/>
          </a:prstGeom>
        </p:spPr>
      </p:pic>
      <p:pic>
        <p:nvPicPr>
          <p:cNvPr id="8" name="Picture 7" descr="h6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865" y="1371600"/>
            <a:ext cx="3623310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F2A5C"/>
                </a:solidFill>
                <a:latin typeface="Arial"/>
              </a:rPr>
              <a:t>▪  A:</a:t>
            </a:r>
            <a:r>
              <a:rPr sz="1500">
                <a:solidFill>
                  <a:srgbClr val="475569"/>
                </a:solidFill>
                <a:latin typeface="Arial"/>
              </a:rPr>
              <a:t> macro-F1 test 0,7866 (mục tiêu ≥ 0,75)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2A5C"/>
                </a:solidFill>
                <a:latin typeface="Arial"/>
              </a:rPr>
              <a:t>▪  A:</a:t>
            </a:r>
            <a:r>
              <a:rPr sz="1500">
                <a:solidFill>
                  <a:srgbClr val="475569"/>
                </a:solidFill>
                <a:latin typeface="Arial"/>
              </a:rPr>
              <a:t> vượt luật +0,155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2A5C"/>
                </a:solidFill>
                <a:latin typeface="Arial"/>
              </a:rPr>
              <a:t>▪  A:</a:t>
            </a:r>
            <a:r>
              <a:rPr sz="1500">
                <a:solidFill>
                  <a:srgbClr val="475569"/>
                </a:solidFill>
                <a:latin typeface="Arial"/>
              </a:rPr>
              <a:t> CREATOR recall 0,38 — chưa đạt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2A5C"/>
                </a:solidFill>
                <a:latin typeface="Arial"/>
              </a:rPr>
              <a:t>▪  C:</a:t>
            </a:r>
            <a:r>
              <a:rPr sz="1500">
                <a:solidFill>
                  <a:srgbClr val="475569"/>
                </a:solidFill>
                <a:latin typeface="Arial"/>
              </a:rPr>
              <a:t> macro-F1 0,7725; 28/30 persona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2A5C"/>
                </a:solidFill>
                <a:latin typeface="Arial"/>
              </a:rPr>
              <a:t>▪  C:</a:t>
            </a:r>
            <a:r>
              <a:rPr sz="1500">
                <a:solidFill>
                  <a:srgbClr val="475569"/>
                </a:solidFill>
                <a:latin typeface="Arial"/>
              </a:rPr>
              <a:t> câu không dấu vẫn đúng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Arial"/>
              </a:rPr>
              <a:t>Trái: ma trận nhầm lẫn Mô hình A (test 200 mẫu) · Phải: Mô hình C (5-fold CV)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Kết quả: Mô hình B so với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pic>
        <p:nvPicPr>
          <p:cNvPr id="7" name="Picture 6" descr="h6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41241"/>
            <a:ext cx="6949440" cy="346695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54480"/>
            <a:ext cx="3931920" cy="1463040"/>
          </a:xfrm>
          <a:prstGeom prst="roundRect">
            <a:avLst/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916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563EB"/>
                </a:solidFill>
                <a:latin typeface="Arial"/>
              </a:rPr>
              <a:t>0,737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423160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nDCG@5 (baseline tốt nhất 0,649)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00400"/>
            <a:ext cx="3931920" cy="1463040"/>
          </a:xfrm>
          <a:prstGeom prst="roundRect">
            <a:avLst/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3375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16A34A"/>
                </a:solidFill>
                <a:latin typeface="Arial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069080"/>
            <a:ext cx="3749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kết quả đúng ngân sách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846320"/>
            <a:ext cx="3931920" cy="1371600"/>
          </a:xfrm>
          <a:prstGeom prst="roundRect">
            <a:avLst/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9834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EA580C"/>
                </a:solidFill>
                <a:latin typeface="Arial"/>
              </a:rPr>
              <a:t>10,3×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571500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giảm công sức tìm kiếm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Ablation và cải thiện theo thời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pic>
        <p:nvPicPr>
          <p:cNvPr id="7" name="Picture 6" descr="h6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5752"/>
            <a:ext cx="6035040" cy="28235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54880"/>
            <a:ext cx="6035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F2A5C"/>
                </a:solidFill>
                <a:latin typeface="Arial"/>
              </a:rPr>
              <a:t>▪  Bỏ chuẩn hóa</a:t>
            </a:r>
            <a:r>
              <a:rPr sz="1500">
                <a:solidFill>
                  <a:srgbClr val="475569"/>
                </a:solidFill>
                <a:latin typeface="Arial"/>
              </a:rPr>
              <a:t> −0,033; bỏ refresh_hz −0,049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Máy mới:</a:t>
            </a:r>
            <a:r>
              <a:rPr sz="1600">
                <a:solidFill>
                  <a:srgbClr val="475569"/>
                </a:solidFill>
                <a:latin typeface="Arial"/>
              </a:rPr>
              <a:t> Mô hình A gán nhãn ngay (tin cậy 85,7–100%)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Mô hình B:</a:t>
            </a:r>
            <a:r>
              <a:rPr sz="1600">
                <a:solidFill>
                  <a:srgbClr val="475569"/>
                </a:solidFill>
                <a:latin typeface="Arial"/>
              </a:rPr>
              <a:t> thêm máy vào chỉ mục là dùng được, không huấn luyện lại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Mô hình C:</a:t>
            </a:r>
            <a:r>
              <a:rPr sz="1600">
                <a:solidFill>
                  <a:srgbClr val="475569"/>
                </a:solidFill>
                <a:latin typeface="Arial"/>
              </a:rPr>
              <a:t> chỉ nhận câu được Thích → tránh tự củng cố sai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Phiên bản mới:</a:t>
            </a:r>
            <a:r>
              <a:rPr sz="1600">
                <a:solidFill>
                  <a:srgbClr val="475569"/>
                </a:solidFill>
                <a:latin typeface="Arial"/>
              </a:rPr>
              <a:t> quản trị viên duyệt promote/rollback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Thí nghiệm 12 câu:</a:t>
            </a:r>
            <a:r>
              <a:rPr sz="1600">
                <a:solidFill>
                  <a:srgbClr val="475569"/>
                </a:solidFill>
                <a:latin typeface="Arial"/>
              </a:rPr>
              <a:t> 91,7% → 91,7%, chưa đo được cải thiện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Demo: AI gợi ý phân khúc khi nhập laptop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pic>
        <p:nvPicPr>
          <p:cNvPr id="7" name="Picture 6" descr="10_laptop_ai_goi_y_phan_kh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30383"/>
            <a:ext cx="7498079" cy="48201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64592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F2A5C"/>
                </a:solidFill>
                <a:latin typeface="Arial"/>
              </a:rPr>
              <a:t>▪  Nhập đủ cấu hình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C"/>
                </a:solidFill>
                <a:latin typeface="Arial"/>
              </a:rPr>
              <a:t>▪  Bấm “AI gợi ý phân khúc”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C"/>
                </a:solidFill>
                <a:latin typeface="Arial"/>
              </a:rPr>
              <a:t>▪  Gaming 71% · Đồ họa 29%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2A5C"/>
                </a:solidFill>
                <a:latin typeface="Arial"/>
              </a:rPr>
              <a:t>▪  Nhân viên chấp nhận hoặc sửa → lưu nguồn nhãn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Kịch bản demo và kiểm thử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658368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023360"/>
                <a:gridCol w="1645920"/>
              </a:tblGrid>
              <a:tr h="640079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Phút</a:t>
                      </a:r>
                    </a:p>
                  </a:txBody>
                  <a:tcPr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Thao tác</a:t>
                      </a:r>
                    </a:p>
                  </a:txBody>
                  <a:tcPr>
                    <a:solidFill>
                      <a:srgbClr val="0F2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Tiêu chí</a:t>
                      </a:r>
                    </a:p>
                  </a:txBody>
                  <a:tcPr>
                    <a:solidFill>
                      <a:srgbClr val="0F2A5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1–3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Gõ câu tự do, có dấu và không dấu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C1, C2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3–5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Xem kết quả, mở “Vì sao gợi ý?”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Giải thích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5–6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Đổi mức ưu tiên / giảm giá một máy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Cá nhân hóa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6–8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Thêm laptop + AI gợi ý; Thích → huấn luyện lại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8–9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Tắt ML service → vẫn có kết quả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75569"/>
                          </a:solidFill>
                          <a:latin typeface="Arial"/>
                        </a:rPr>
                        <a:t>Giảm nhẹ sai lầm</a:t>
                      </a:r>
                    </a:p>
                  </a:txBody>
                  <a:tcPr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06640" y="1463040"/>
            <a:ext cx="4297680" cy="1463040"/>
          </a:xfrm>
          <a:prstGeom prst="roundRect">
            <a:avLst/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6002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563EB"/>
                </a:solidFill>
                <a:latin typeface="Arial"/>
              </a:rPr>
              <a:t>34/34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331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kiểm thử tự động ML service đạt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200400"/>
            <a:ext cx="4297680" cy="1463040"/>
          </a:xfrm>
          <a:prstGeom prst="roundRect">
            <a:avLst/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333756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16A34A"/>
                </a:solidFill>
                <a:latin typeface="Arial"/>
              </a:rPr>
              <a:t>4/4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4069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luồng CRUD quản trị đạt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846320"/>
            <a:ext cx="4297680" cy="1371600"/>
          </a:xfrm>
          <a:prstGeom prst="roundRect">
            <a:avLst/>
          </a:prstGeom>
          <a:solidFill>
            <a:srgbClr val="EF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49834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EA580C"/>
                </a:solidFill>
                <a:latin typeface="Arial"/>
              </a:rPr>
              <a:t>30/30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5715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Arial"/>
              </a:rPr>
              <a:t>persona đạt ràng buộc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Hạn chế và 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Arial"/>
              </a:rPr>
              <a:t>SmartLap — Hệ khuyến nghị laptop bằng kNN  |  Nhóm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A580C"/>
                </a:solidFill>
                <a:latin typeface="Arial"/>
              </a:rPr>
              <a:t>Hạn chế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Dữ liệu tổng hợp,</a:t>
            </a:r>
            <a:r>
              <a:rPr sz="1600">
                <a:solidFill>
                  <a:srgbClr val="475569"/>
                </a:solidFill>
                <a:latin typeface="Arial"/>
              </a:rPr>
              <a:t> chưa kiểm chứng catalog thật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CREATOR và DO_HOA</a:t>
            </a:r>
            <a:r>
              <a:rPr sz="1600">
                <a:solidFill>
                  <a:srgbClr val="475569"/>
                </a:solidFill>
                <a:latin typeface="Arial"/>
              </a:rPr>
              <a:t> yếu do ít mẫu, chồng lấn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Độ liên quan</a:t>
            </a:r>
            <a:r>
              <a:rPr sz="1600">
                <a:solidFill>
                  <a:srgbClr val="475569"/>
                </a:solidFill>
                <a:latin typeface="Arial"/>
              </a:rPr>
              <a:t> suy từ persona; công sức tìm kiếm là proxy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Trọng số</a:t>
            </a:r>
            <a:r>
              <a:rPr sz="1600">
                <a:solidFill>
                  <a:srgbClr val="475569"/>
                </a:solidFill>
                <a:latin typeface="Arial"/>
              </a:rPr>
              <a:t> đặt theo kinh nghiệm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Backend</a:t>
            </a:r>
            <a:r>
              <a:rPr sz="1600">
                <a:solidFill>
                  <a:srgbClr val="475569"/>
                </a:solidFill>
                <a:latin typeface="Arial"/>
              </a:rPr>
              <a:t> chưa có test tự động; thiếu vài màn quản trị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6A34A"/>
                </a:solidFill>
                <a:latin typeface="Arial"/>
              </a:rPr>
              <a:t>Hướng phát triển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Thu thập catalog thật</a:t>
            </a:r>
            <a:r>
              <a:rPr sz="1600">
                <a:solidFill>
                  <a:srgbClr val="475569"/>
                </a:solidFill>
                <a:latin typeface="Arial"/>
              </a:rPr>
              <a:t> + gán nhãn đo Cohen’s kappa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Thêm câu thật</a:t>
            </a:r>
            <a:r>
              <a:rPr sz="1600">
                <a:solidFill>
                  <a:srgbClr val="475569"/>
                </a:solidFill>
                <a:latin typeface="Arial"/>
              </a:rPr>
              <a:t> cho Mô hình C, nhất là DO_HOA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Học trọng số</a:t>
            </a:r>
            <a:r>
              <a:rPr sz="1600">
                <a:solidFill>
                  <a:srgbClr val="475569"/>
                </a:solidFill>
                <a:latin typeface="Arial"/>
              </a:rPr>
              <a:t> từ phản hồi (metric learning)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Thử nghiệm A/B</a:t>
            </a:r>
            <a:r>
              <a:rPr sz="1600">
                <a:solidFill>
                  <a:srgbClr val="475569"/>
                </a:solidFill>
                <a:latin typeface="Arial"/>
              </a:rPr>
              <a:t> với 5–10 người dùng thật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2A5C"/>
                </a:solidFill>
                <a:latin typeface="Arial"/>
              </a:rPr>
              <a:t>▪  Mở rộng</a:t>
            </a:r>
            <a:r>
              <a:rPr sz="1600">
                <a:solidFill>
                  <a:srgbClr val="475569"/>
                </a:solidFill>
                <a:latin typeface="Arial"/>
              </a:rPr>
              <a:t> sang điện thoại, máy tính bảng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640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Cảm ơn thầy đã lắng nghe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BFDBFE"/>
                </a:solidFill>
                <a:latin typeface="Arial"/>
              </a:rPr>
              <a:t>Nhóm 1 sẵn sàng trả lời câu hỏi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